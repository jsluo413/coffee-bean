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6F4E37"/>
                </a:solidFill>
              </a:rPr>
              <a:t>Beyond the Bean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26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62730"/>
                </a:solidFill>
              </a:rPr>
              <a:t>Global coffee production, quality, and the specialty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8A8A8A"/>
                </a:solidFill>
              </a:rPr>
              <a:t>Jinsheng Luo  ·  Data Visualization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6F4E37"/>
                </a:solidFill>
              </a:rP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62730"/>
                </a:solidFill>
              </a:rPr>
              <a:t>• Where coffee is grown is not where it is graded.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62730"/>
                </a:solidFill>
              </a:rPr>
              <a:t>• Where it is graded is not where it is sold at a premium.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62730"/>
                </a:solidFill>
              </a:rPr>
              <a:t>• Three datasets, four hypotheses, one dashboard — does the data tell one story or two?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6F4E37"/>
                </a:solidFill>
              </a:rPr>
              <a:t>Three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62730"/>
                </a:solidFill>
              </a:rPr>
              <a:t>• FAO production (1961–2024) — 7,375 country-years (Our World in Data)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62730"/>
                </a:solidFill>
              </a:rPr>
              <a:t>• CQI cupping database — 1,338 professionally graded lots, 10 sensory dimensions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62730"/>
                </a:solidFill>
              </a:rPr>
              <a:t>• coffeereview.com — 2,095 specialty consumer reviews (2017–2022)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62730"/>
                </a:solidFill>
              </a:rPr>
              <a:t>• Linked at the country level via keyword-matching on origin fields.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6F4E37"/>
                </a:solidFill>
              </a:rPr>
              <a:t>H1 · Production is wildly concentrated — but the belt isn't more productive</a:t>
            </a:r>
          </a:p>
        </p:txBody>
      </p:sp>
      <p:pic>
        <p:nvPicPr>
          <p:cNvPr id="3" name="Picture 2" descr="h1_choropleth_2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005840"/>
            <a:ext cx="1051560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8A8A8A"/>
                </a:solidFill>
              </a:rPr>
              <a:t>Belt mean = 0.72 t/ha (n=948)  ·  Margin mean = 1.05 t/ha (n=60)  ·  Welch t = -2.48, p = 0.016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6F4E37"/>
                </a:solidFill>
              </a:rPr>
              <a:t>H1 · Yield varies more within the belt than between belt and margin</a:t>
            </a:r>
          </a:p>
        </p:txBody>
      </p:sp>
      <p:pic>
        <p:nvPicPr>
          <p:cNvPr id="3" name="Picture 2" descr="h1_yield_l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005840"/>
            <a:ext cx="1051560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8A8A8A"/>
                </a:solidFill>
              </a:rPr>
              <a:t>Hypothesis rejected. Latitude defines where coffee can grow; agronomy defines how much per hectare.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6F4E37"/>
                </a:solidFill>
              </a:rPr>
              <a:t>H2 · Altitude lifts cupping score — modestly but reliably</a:t>
            </a:r>
          </a:p>
        </p:txBody>
      </p:sp>
      <p:pic>
        <p:nvPicPr>
          <p:cNvPr id="3" name="Picture 2" descr="h2_altitude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005840"/>
            <a:ext cx="1051560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8A8A8A"/>
                </a:solidFill>
              </a:rPr>
              <a:t>&lt;1000m = 81.8  ·  &gt;2000m = 83.5  ·  OLS β(altitude std) = +0.44, p = 7.1e-09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6F4E37"/>
                </a:solidFill>
              </a:rPr>
              <a:t>H2 · Standardized OLS coefficients on Total Cup Points</a:t>
            </a:r>
          </a:p>
        </p:txBody>
      </p:sp>
      <p:pic>
        <p:nvPicPr>
          <p:cNvPr id="3" name="Picture 2" descr="h2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005840"/>
            <a:ext cx="1051560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8A8A8A"/>
                </a:solidFill>
              </a:rPr>
              <a:t>R² = 0.13, n = 1104. Altitude is the largest single positive driver; defects, the largest negative.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6F4E37"/>
                </a:solidFill>
              </a:rPr>
              <a:t>H3 · Above ~$12/100g, more money buys very few extra rating points</a:t>
            </a:r>
          </a:p>
        </p:txBody>
      </p:sp>
      <p:pic>
        <p:nvPicPr>
          <p:cNvPr id="3" name="Picture 2" descr="h3_price_ra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005840"/>
            <a:ext cx="1051560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8A8A8A"/>
                </a:solidFill>
              </a:rPr>
              <a:t>Mean rating: &lt;$5 = 92.4, $8–12 = 93.3, &gt;$20 = 94.3  ·  Spearman ρ = 0.35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6F4E37"/>
                </a:solidFill>
              </a:rPr>
              <a:t>H4 · Flavor language differs systematically by origin</a:t>
            </a:r>
          </a:p>
        </p:txBody>
      </p:sp>
      <p:pic>
        <p:nvPicPr>
          <p:cNvPr id="3" name="Picture 2" descr="h4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005840"/>
            <a:ext cx="1051560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8A8A8A"/>
                </a:solidFill>
              </a:rPr>
              <a:t>TF-IDF + KMeans clusters of review descriptions, share by top-10 origins. Nuanced support — origin shifts the mix, not the category.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6F4E37"/>
                </a:solidFill>
              </a:rPr>
              <a:t>Synthesis · Volume and quality are independent</a:t>
            </a:r>
          </a:p>
        </p:txBody>
      </p:sp>
      <p:pic>
        <p:nvPicPr>
          <p:cNvPr id="3" name="Picture 2" descr="synthesis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005840"/>
            <a:ext cx="1051560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8A8A8A"/>
                </a:solidFill>
              </a:rPr>
              <a:t>Volume × quality (Spearman) = +0.09  ·  Volume × price = -0.08  ·  Quality × price = -0.03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6F4E37"/>
                </a:solidFill>
              </a:rPr>
              <a:t>Putting the four hypotheses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62730"/>
                </a:solidFill>
              </a:rPr>
              <a:t>• H1 — Belt → higher yield: REJECTED (margin avg is higher)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62730"/>
                </a:solidFill>
              </a:rPr>
              <a:t>• H2 — Altitude → higher cup score: SUPPORTED (β = +0.44 std, p &lt; 1e-8)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62730"/>
                </a:solidFill>
              </a:rPr>
              <a:t>• H3 — Diminishing returns above $12/100g: STRONGLY SUPPORTED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62730"/>
                </a:solidFill>
              </a:rPr>
              <a:t>• H4 — Flavor clusters track origin: SUPPORTED with nuance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62730"/>
                </a:solidFill>
              </a:rPr>
              <a:t>• Big idea: coffee is two industries — commodity (volume) and specialty (story).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6F4E37"/>
                </a:solidFill>
              </a:rPr>
              <a:t>What the data cannot tell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62730"/>
                </a:solidFill>
              </a:rPr>
              <a:t>• CQI is a submitted-sample database, not a random sample of world coffee.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62730"/>
                </a:solidFill>
              </a:rPr>
              <a:t>• coffeereview.com is curated specialty — ratings cluster between 88 and 96.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62730"/>
                </a:solidFill>
              </a:rPr>
              <a:t>• Origin-of-coffee ≠ country-of-roaster; blends resolved to the first listed origin.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62730"/>
                </a:solidFill>
              </a:rPr>
              <a:t>• All findings are correlational; no causal claims.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6F4E37"/>
                </a:solidFill>
              </a:rPr>
              <a:t>Thank you —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8A8A8A"/>
                </a:solidFill>
              </a:rPr>
              <a:t>Live dashboard:  streamlit run streamlit_app.py    ·    Repo: github.com/&lt;you&gt;/coffee-bean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